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423794f1d4d8b" /><Relationship Type="http://schemas.openxmlformats.org/officeDocument/2006/relationships/extended-properties" Target="/docProps/app.xml" Id="Rb70580a003234120" /><Relationship Type="http://schemas.openxmlformats.org/officeDocument/2006/relationships/officeDocument" Target="/ppt/presentation.xml" Id="Rabbcaa80acf4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f896700acc4e61"/>
  </p:sldMasterIdLst>
  <p:notesMasterIdLst>
    <p:notesMasterId xmlns:r="http://schemas.openxmlformats.org/officeDocument/2006/relationships" r:id="R2af34e3726a84060"/>
  </p:notesMasterIdLst>
  <p:sldIdLst>
    <p:sldId xmlns:r="http://schemas.openxmlformats.org/officeDocument/2006/relationships" id="256" r:id="Re3f12dc57d6a4c46"/>
    <p:sldId xmlns:r="http://schemas.openxmlformats.org/officeDocument/2006/relationships" id="257" r:id="R0d675881f0144bc6"/>
    <p:sldId xmlns:r="http://schemas.openxmlformats.org/officeDocument/2006/relationships" id="258" r:id="Ree22fbb4ff1449a1"/>
    <p:sldId xmlns:r="http://schemas.openxmlformats.org/officeDocument/2006/relationships" id="259" r:id="Rf33e7cc616de4035"/>
    <p:sldId xmlns:r="http://schemas.openxmlformats.org/officeDocument/2006/relationships" id="260" r:id="R0e854307787a4172"/>
    <p:sldId xmlns:r="http://schemas.openxmlformats.org/officeDocument/2006/relationships" id="261" r:id="Ra4eefc04f0c94bc5"/>
    <p:sldId xmlns:r="http://schemas.openxmlformats.org/officeDocument/2006/relationships" id="262" r:id="Re5052901339c4c44"/>
    <p:sldId xmlns:r="http://schemas.openxmlformats.org/officeDocument/2006/relationships" id="263" r:id="Rcb1da62a4bba4e87"/>
    <p:sldId xmlns:r="http://schemas.openxmlformats.org/officeDocument/2006/relationships" id="264" r:id="R152eb4ce25cb45b8"/>
    <p:sldId xmlns:r="http://schemas.openxmlformats.org/officeDocument/2006/relationships" id="265" r:id="R4d7c45df992146c5"/>
    <p:sldId xmlns:r="http://schemas.openxmlformats.org/officeDocument/2006/relationships" id="266" r:id="R8174203732cc4cc3"/>
    <p:sldId xmlns:r="http://schemas.openxmlformats.org/officeDocument/2006/relationships" id="267" r:id="Rd7587a7c67304f6c"/>
    <p:sldId xmlns:r="http://schemas.openxmlformats.org/officeDocument/2006/relationships" id="268" r:id="R95d9733cff9743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ad8d906c24088" /><Relationship Type="http://schemas.openxmlformats.org/officeDocument/2006/relationships/slideMaster" Target="/ppt/slideMasters/slideMaster1.xml" Id="R40f896700acc4e61" /><Relationship Type="http://schemas.openxmlformats.org/officeDocument/2006/relationships/notesMaster" Target="/ppt/notesMasters/notesMaster1.xml" Id="R2af34e3726a84060" /><Relationship Type="http://schemas.openxmlformats.org/officeDocument/2006/relationships/presProps" Target="/ppt/presProps.xml" Id="Rf226710827954cb2" /><Relationship Type="http://schemas.openxmlformats.org/officeDocument/2006/relationships/tableStyles" Target="/ppt/tableStyles.xml" Id="R36131e9d361d4128" /><Relationship Type="http://schemas.openxmlformats.org/officeDocument/2006/relationships/slide" Target="/ppt/slides/slide1.xml" Id="Re3f12dc57d6a4c46" /><Relationship Type="http://schemas.openxmlformats.org/officeDocument/2006/relationships/slide" Target="/ppt/slides/slide2.xml" Id="R0d675881f0144bc6" /><Relationship Type="http://schemas.openxmlformats.org/officeDocument/2006/relationships/slide" Target="/ppt/slides/slide3.xml" Id="Ree22fbb4ff1449a1" /><Relationship Type="http://schemas.openxmlformats.org/officeDocument/2006/relationships/slide" Target="/ppt/slides/slide4.xml" Id="Rf33e7cc616de4035" /><Relationship Type="http://schemas.openxmlformats.org/officeDocument/2006/relationships/slide" Target="/ppt/slides/slide5.xml" Id="R0e854307787a4172" /><Relationship Type="http://schemas.openxmlformats.org/officeDocument/2006/relationships/slide" Target="/ppt/slides/slide6.xml" Id="Ra4eefc04f0c94bc5" /><Relationship Type="http://schemas.openxmlformats.org/officeDocument/2006/relationships/slide" Target="/ppt/slides/slide7.xml" Id="Re5052901339c4c44" /><Relationship Type="http://schemas.openxmlformats.org/officeDocument/2006/relationships/slide" Target="/ppt/slides/slide8.xml" Id="Rcb1da62a4bba4e87" /><Relationship Type="http://schemas.openxmlformats.org/officeDocument/2006/relationships/slide" Target="/ppt/slides/slide9.xml" Id="R152eb4ce25cb45b8" /><Relationship Type="http://schemas.openxmlformats.org/officeDocument/2006/relationships/slide" Target="/ppt/slides/slide10.xml" Id="R4d7c45df992146c5" /><Relationship Type="http://schemas.openxmlformats.org/officeDocument/2006/relationships/slide" Target="/ppt/slides/slide11.xml" Id="R8174203732cc4cc3" /><Relationship Type="http://schemas.openxmlformats.org/officeDocument/2006/relationships/slide" Target="/ppt/slides/slide12.xml" Id="Rd7587a7c67304f6c" /><Relationship Type="http://schemas.openxmlformats.org/officeDocument/2006/relationships/slide" Target="/ppt/slides/slide13.xml" Id="R95d9733cff97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f70568146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b0129395ef4888" /><Relationship Type="http://schemas.openxmlformats.org/officeDocument/2006/relationships/notesMaster" Target="/ppt/notesMasters/notesMaster1.xml" Id="R53b3174b3ec140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e20918a00b4ccd" /><Relationship Type="http://schemas.openxmlformats.org/officeDocument/2006/relationships/notesMaster" Target="/ppt/notesMasters/notesMaster1.xml" Id="R9d947ca895d4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2b4f94cf14a0a" /><Relationship Type="http://schemas.openxmlformats.org/officeDocument/2006/relationships/notesMaster" Target="/ppt/notesMasters/notesMaster1.xml" Id="R19c5260f216841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4287bc532402f" /><Relationship Type="http://schemas.openxmlformats.org/officeDocument/2006/relationships/notesMaster" Target="/ppt/notesMasters/notesMaster1.xml" Id="R67e68b31ab10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092f5a639f427f" /><Relationship Type="http://schemas.openxmlformats.org/officeDocument/2006/relationships/notesMaster" Target="/ppt/notesMasters/notesMaster1.xml" Id="R05016df8bf2c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cf238693044d4c" /><Relationship Type="http://schemas.openxmlformats.org/officeDocument/2006/relationships/notesMaster" Target="/ppt/notesMasters/notesMaster1.xml" Id="Rdb5fe97f139e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71ce7620d4ec0" /><Relationship Type="http://schemas.openxmlformats.org/officeDocument/2006/relationships/notesMaster" Target="/ppt/notesMasters/notesMaster1.xml" Id="Rb97662306efd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c36aeae374a5d" /><Relationship Type="http://schemas.openxmlformats.org/officeDocument/2006/relationships/notesMaster" Target="/ppt/notesMasters/notesMaster1.xml" Id="R0c1feed3680446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c8c3bf6554929" /><Relationship Type="http://schemas.openxmlformats.org/officeDocument/2006/relationships/notesMaster" Target="/ppt/notesMasters/notesMaster1.xml" Id="Rd9e0c9ce6cc94f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cf0f0bdeb34b6a" /><Relationship Type="http://schemas.openxmlformats.org/officeDocument/2006/relationships/notesMaster" Target="/ppt/notesMasters/notesMaster1.xml" Id="R12424ca1944f47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b65d9654684efb" /><Relationship Type="http://schemas.openxmlformats.org/officeDocument/2006/relationships/notesMaster" Target="/ppt/notesMasters/notesMaster1.xml" Id="R4ab4b1d63dc6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ace5c02b944f60" /><Relationship Type="http://schemas.openxmlformats.org/officeDocument/2006/relationships/notesMaster" Target="/ppt/notesMasters/notesMaster1.xml" Id="Rdabaf826f8d54e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8fe2e7f2d44213" /><Relationship Type="http://schemas.openxmlformats.org/officeDocument/2006/relationships/notesMaster" Target="/ppt/notesMasters/notesMaster1.xml" Id="R855fbfa54f6a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约25秒。介绍项目题目与范围。说明使用公开历史聚合客流，目标是可解释的分析和稳定的离线演示。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约30秒。课程硬要求包括预处理、描述性统计、客流规律、出行模式和地图。KMeans为本组已选择增强，课程原文没有强制预测。用户确定范围；这里没有加入爬虫、OD和复杂模型。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本地课程文件：软件开发实践1-项目要求【2026.9】.docx</a:t>
            </a:r>
          </a:p>
          <a:p xmlns:a="http://schemas.openxmlformats.org/drawingml/2006/main">
            <a:r>
              <a:t>本地规格：docs/requirements/需求冻结版项目规格.md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。原始CSV为10分钟站点汇总，正常统计前检查类型、唯一键、分项和、站点与时段完整性。六个缺损日仍保留在质量页面，不是把它们删除后隐藏。处理后小时表631482行，约8.4MB结果可供演示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约30秒。数据处理、分析、聚类和绘图各有模块；app.py只组织页面，启动器管理自己的服务。技术版本详见requirements.txt，不在界面暴露随机种子等开发参数。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本地源码：src/、app.py、launch.py、requirements.txt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。先区分工作日与非工作日，再比较典型小时曲线。调休以来源日历为准。全网日均622.9万人次，峰值日期5月19日。这里的人次不是独立乘客数量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约35秒。图为真实站点空间页面。英文站名沿用数据源。地图坐标是地理位置，邻接连线不是轨道精确走向；不能据此推断OD和换乘人数。本项目按MetroFlow公开数据计算，2017-05-01至08-31，302站、117个有效日期。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本地实际截图：docs/screenshots/S03-stations.png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。三类绝对进站量分别233455300、215063027、280295483；总和等于有效进站量。方向指数正值表示进站更多，零分母不算；峰段使用左闭右开7—9和17—19时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约35秒。天气按日汇总，温度取均值，降雨求和，要求24小时完整。负相关不能说明因果，月份、节假日等还可能影响结果。本项目按MetroFlow公开数据计算，2017-05-01至08-31，302站、117个有效日期。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本地实际截图：docs/screenshots/S07-weather.png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50秒。先将地铁站WGS84坐标转换为GCJ-02，再按球面距离统计500米和1公里范围POI。用383条地铁站POI验证后，中位坐标偏差从476.3米降到15.7米。密度与客流呈中等偏强正相关；功能多样性与客流相关较弱，区间跨零。高客流站就业金融占比较高，购物占比较低，但这里只报告关联，不做因果判断。POI数据共1625290条；排除地址、通行、室内和道路附属信息后，1303199条进入功能分析。花桥、光明路位于昆山，上海POI数据覆盖不到，因此周边计数为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本地实际截图：docs/screenshots/S12-poi-analysis-top.png</a:t>
            </a:r>
          </a:p>
          <a:p xmlns:a="http://schemas.openxmlformats.org/drawingml/2006/main">
            <a:r>
              <a:t>本地结果：data/processed/poi_stations.parquet、poi_quality.json</a:t>
            </a:r>
          </a:p>
          <a:p xmlns:a="http://schemas.openxmlformats.org/drawingml/2006/main">
            <a:r>
              <a:t>本地源码：src/poi_processing.py、src/analysis.py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每种日类型的进出34项先归一化，减少规模对分组的主导；分组1呈工作日早进晚出突出。没有土地利用外部标签，不直接命名住宅区。固定seed42、n_init10仅帮助复现，无需在用户界面调参。本项目按MetroFlow公开数据计算，2017-05-01至08-31，302站、117个有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本地结果：data/processed/clusters/evaluation.csv、说明.json</a:t>
            </a:r>
          </a:p>
          <a:p xmlns:a="http://schemas.openxmlformats.org/drawingml/2006/main">
            <a:r>
              <a:t>https://scikit-learn.org/stable/modules/clustering.html</a:t>
            </a:r>
          </a:p>
          <a:p xmlns:a="http://schemas.openxmlformats.org/drawingml/2006/main">
            <a:r>
              <a:t>https://doi.org/10.1038/s41597-025-05416-8</a:t>
            </a:r>
          </a:p>
          <a:p xmlns:a="http://schemas.openxmlformats.org/drawingml/2006/main">
            <a:r>
              <a:t>https://doi.org/10.6084/m9.figshare.28844942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留约75秒现场演示：先看时间规律，再进入站点空间选择站点，切换出行模式，展示天气和POI关联，最后查看质量与导出。不要在答辩时重新训练模型。若现场演示未能完成，可用本页真实截图解释，但不能声称异机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本地实际截图：docs/screenshots/S01-overview.png</a:t>
            </a:r>
          </a:p>
          <a:p xmlns:a="http://schemas.openxmlformats.org/drawingml/2006/main">
            <a:r>
              <a:t>本地源码：app.py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约35秒。说明已完成的开发测试，避免把中文空格目录测试说成真实异机。代码ZIP小于30MB，运行环境单独打包。源代码、报告、PPT、个人调研和AI附件均在总包。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本地证据：docs/测试与验收记录.md、docs/ai-process/最终自动化测试.log、dist/包大小.json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收尾，之后预留问答。团队计划各25%；Codex生成程序和材料，用户确定范围并指导精简。真实人工修改和验收在发生后记录，不补造贡献。可回答：为何排除六天？为何不做预测？为何选择2组？为何进站人次不等于人数？为什么双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本地报告：docs/deliverables/期末报告.docx</a:t>
            </a:r>
          </a:p>
          <a:p xmlns:a="http://schemas.openxmlformats.org/drawingml/2006/main">
            <a:r>
              <a:t>本地AI附件：docs/deliverables/AI辅助过程附件.docx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1462e654941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dff9cb56a4088" /><Relationship Type="http://schemas.openxmlformats.org/officeDocument/2006/relationships/slideLayout" Target="/ppt/slideLayouts/slideLayout1.xml" Id="Rf96ae10bba9145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ae10bba9145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c188f23fc40a0" /><Relationship Type="http://schemas.openxmlformats.org/officeDocument/2006/relationships/notesSlide" Target="/ppt/notesSlides/notesSlide1.xml" Id="R324d3c915b0f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d58b4521a4417" /><Relationship Type="http://schemas.openxmlformats.org/officeDocument/2006/relationships/notesSlide" Target="/ppt/notesSlides/notesSlide2.xml" Id="R2ca17aa8c5bf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044fe8a034123" /><Relationship Type="http://schemas.openxmlformats.org/officeDocument/2006/relationships/notesSlide" Target="/ppt/notesSlides/notesSlide3.xml" Id="R5fec44a56070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6da26accb41be" /><Relationship Type="http://schemas.openxmlformats.org/officeDocument/2006/relationships/notesSlide" Target="/ppt/notesSlides/notesSlide4.xml" Id="R29f1de9dfed7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c0ca68ca6469a" /><Relationship Type="http://schemas.openxmlformats.org/officeDocument/2006/relationships/chart" Target="/ppt/slides/charts/chart1.xml" Id="R2d92148d7a7f4003" /><Relationship Type="http://schemas.openxmlformats.org/officeDocument/2006/relationships/notesSlide" Target="/ppt/notesSlides/notesSlide5.xml" Id="Rf5df8ff035fd41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7d0fa8c8949b9" /><Relationship Type="http://schemas.openxmlformats.org/officeDocument/2006/relationships/image" Target="/ppt/media/image.jpeg" Id="R16c6b0cbda1b46c1" /><Relationship Type="http://schemas.openxmlformats.org/officeDocument/2006/relationships/notesSlide" Target="/ppt/notesSlides/notesSlide6.xml" Id="Rdd74828f94824c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87626e15046ff" /><Relationship Type="http://schemas.openxmlformats.org/officeDocument/2006/relationships/chart" Target="/ppt/slides/charts/chart2.xml" Id="R97ea80cf18444d0f" /><Relationship Type="http://schemas.openxmlformats.org/officeDocument/2006/relationships/notesSlide" Target="/ppt/notesSlides/notesSlide7.xml" Id="Rf95acca3091e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f95521d614021" /><Relationship Type="http://schemas.openxmlformats.org/officeDocument/2006/relationships/image" Target="/ppt/media/image2.jpeg" Id="R9e8bb1f9e87347c7" /><Relationship Type="http://schemas.openxmlformats.org/officeDocument/2006/relationships/notesSlide" Target="/ppt/notesSlides/notesSlide8.xml" Id="Rcced88e8e80c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9041827c54b91" /><Relationship Type="http://schemas.openxmlformats.org/officeDocument/2006/relationships/image" Target="/ppt/media/image.png" Id="Raf4065db0e484edd" /><Relationship Type="http://schemas.openxmlformats.org/officeDocument/2006/relationships/notesSlide" Target="/ppt/notesSlides/notesSlide9.xml" Id="Rfadba63e3445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76d8a33cb48d5" /><Relationship Type="http://schemas.openxmlformats.org/officeDocument/2006/relationships/chart" Target="/ppt/slides/charts/chart3.xml" Id="Rdea67d4f5b4e4312" /><Relationship Type="http://schemas.openxmlformats.org/officeDocument/2006/relationships/notesSlide" Target="/ppt/notesSlides/notesSlide10.xml" Id="Rf4ec0fcddb7d42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25d8d9f54f09" /><Relationship Type="http://schemas.openxmlformats.org/officeDocument/2006/relationships/image" Target="/ppt/media/image3.jpeg" Id="Rfb8bfe07cd09474b" /><Relationship Type="http://schemas.openxmlformats.org/officeDocument/2006/relationships/notesSlide" Target="/ppt/notesSlides/notesSlide11.xml" Id="R4f1f14a7e98046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45cc95684b61" /><Relationship Type="http://schemas.openxmlformats.org/officeDocument/2006/relationships/notesSlide" Target="/ppt/notesSlides/notesSlide12.xml" Id="Rb9b71011975a4a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54aadab54c1d" /><Relationship Type="http://schemas.openxmlformats.org/officeDocument/2006/relationships/notesSlide" Target="/ppt/notesSlides/notesSlide13.xml" Id="R9bfe9865864d44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日均进站 / 万人次</c:v>
          </c:tx>
          <c:spPr>
            <a:solidFill xmlns:a="http://schemas.openxmlformats.org/drawingml/2006/main">
              <a:srgbClr val="187887"/>
            </a:solidFill>
            <a:ln xmlns:a="http://schemas.openxmlformats.org/drawingml/2006/main" w="28575">
              <a:solidFill>
                <a:srgbClr val="187887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工作日</c:v>
                </c:pt>
                <c:pt idx="1">
                  <c:v>非工作日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699.3</c:v>
                </c:pt>
                <c:pt idx="1">
                  <c:v>451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2344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进站构成 / %</c:v>
          </c:tx>
          <c:spPr>
            <a:solidFill xmlns:a="http://schemas.openxmlformats.org/drawingml/2006/main">
              <a:srgbClr val="187887"/>
            </a:solidFill>
            <a:ln xmlns:a="http://schemas.openxmlformats.org/drawingml/2006/main" w="28575">
              <a:solidFill>
                <a:srgbClr val="187887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通勤 C</c:v>
                </c:pt>
                <c:pt idx="1">
                  <c:v>居家其他 HBO</c:v>
                </c:pt>
                <c:pt idx="2">
                  <c:v>非居家 NHB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32.03</c:v>
                </c:pt>
                <c:pt idx="1">
                  <c:v>29.51</c:v>
                </c:pt>
                <c:pt idx="2">
                  <c:v>38.46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2344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轮廓系数</c:v>
          </c:tx>
          <c:spPr>
            <a:solidFill xmlns:a="http://schemas.openxmlformats.org/drawingml/2006/main">
              <a:srgbClr val="187887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23442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0.427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2344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23442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0.299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2344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23442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0.260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2344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23442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0.205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2344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2组</c:v>
                </c:pt>
                <c:pt idx="1">
                  <c:v>3组</c:v>
                </c:pt>
                <c:pt idx="2">
                  <c:v>4组</c:v>
                </c:pt>
                <c:pt idx="3">
                  <c:v>5组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0.427</c:v>
                </c:pt>
                <c:pt idx="1">
                  <c:v>0.299</c:v>
                </c:pt>
                <c:pt idx="2">
                  <c:v>0.26</c:v>
                </c:pt>
                <c:pt idx="3">
                  <c:v>0.205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2344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81E6-D0CD-46CF-A368-075FFEAE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ACD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ACDCD"/>
                </a:solidFill>
                <a:latin typeface="Microsoft YaHei"/>
                <a:ea typeface="Microsoft YaHei"/>
                <a:cs typeface="Microsoft YaHei"/>
              </a:rPr>
              <a:t>软件开发实践1 · 选题1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E46DC-353F-4C02-84D2-89C33621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沪上流动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2B1E0-4F11-464B-AFC5-12A25CE3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上海地铁客流时空规律分析与可视化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A5F63-4C2A-4BD0-8F93-252335B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7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D0D6"/>
                </a:solidFill>
                <a:latin typeface="Microsoft YaHei"/>
                <a:ea typeface="Microsoft YaHei"/>
                <a:cs typeface="Microsoft YaHei"/>
              </a:rPr>
              <a:t>2017年5—8月  /  302站  /  本地离线交互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DAEA3-2878-4D9A-817A-13A8530D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[01] 林睿信 · 吴旻昊 · 朱子墨 · 邢雨晨</a:t>
            </a:r>
          </a:p>
        </p:txBody>
      </p:sp>
    </p:spTree>
    <p:extLst>
      <p:ext uri="{BB962C8B-B14F-4D97-AF65-F5344CB8AC3E}">
        <p14:creationId xmlns:p14="http://schemas.microsoft.com/office/powerpoint/2010/main" val="1008064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9A4CF-483F-4374-9306-75108B5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9F86B-B8F2-49BA-82E2-C67A1DC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45557-8FFF-4ABB-B78B-C3E341E2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六个问题决定功能范围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83B9C-8F06-4122-BF40-36D0BDAB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每个页面都要回答问题，并给出可核验的结果。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1C8ED-D181-43C1-8D26-DA9B248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A  高峰何时出现？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F91CC-8F97-4E96-89EA-EE725564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B  哪些站点更繁忙，在哪里？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45A9A-B985-4726-B62B-7042DE24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C  早晚进出方向如何变化？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DAB06-3C7B-4949-8F58-FB46154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D  三类出行各占多少？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E7FF-63B3-470F-9798-603199F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E  天气与客流是否有关？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0AA04-FE02-44A9-AE92-FCA5674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F  站点周边功能与客流有何关系？</a:t>
            </a:r>
          </a:p>
        </p:txBody>
      </p:sp>
    </p:spTree>
    <p:extLst>
      <p:ext uri="{BB962C8B-B14F-4D97-AF65-F5344CB8AC3E}">
        <p14:creationId xmlns:p14="http://schemas.microsoft.com/office/powerpoint/2010/main" val="1023084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DB22F-5025-4006-9382-75B67AB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F70F0-30D5-4ABD-AA7F-7DDD0A03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BF115-E23A-434A-97A7-BC6BAFA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378万行聚合记录，正常分析117天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DE1FA-673F-43EC-8D4C-1655381F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行数、客流人次与独立乘客人数是不同的统计对象。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41469-C23E-4F9A-9C8D-0ED136C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3,788,892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8DD97-ADFB-490F-8F7C-ED47417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原始记录 / 13个字段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86F6D-720C-4C71-A4C1-A36948E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123天 → 排除6个计数缺损日 → 117天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12FA9-20F3-4A97-A2C5-3F0DC60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零流量保留；不把缺损日填成“正常低谷”。</a:t>
            </a:r>
          </a:p>
        </p:txBody>
      </p:sp>
    </p:spTree>
    <p:extLst>
      <p:ext uri="{BB962C8B-B14F-4D97-AF65-F5344CB8AC3E}">
        <p14:creationId xmlns:p14="http://schemas.microsoft.com/office/powerpoint/2010/main" val="1724988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10BF7-63B8-4C62-897C-EFA6FBE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5E1AB-9BD8-4376-9209-4DDD01F8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4972-FD92-411E-A380-80456A9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把数据处理和页面展示分开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51225-E464-412C-9AB0-6B43E3FB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五个小模块支撑七个页面，便于复核和答辩解释。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46BD1-5550-417B-8CFB-684D8F4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客流、天气、站点与POI → 检查、校正和聚合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9587C-4254-4885-85E0-5AF5961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统计、关联与聚类 → 本地加载 → 筛选、解释与导出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99693-50F0-4D2C-A18A-99CEB5CF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Python 3.13.15  ·  pandas  ·  Streamlit  ·  Plotly  ·  scikit-learn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A2A92-0D42-407D-8D4A-639F730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离线地理图；运行时不请求在线地图或API。</a:t>
            </a:r>
          </a:p>
        </p:txBody>
      </p:sp>
    </p:spTree>
    <p:extLst>
      <p:ext uri="{BB962C8B-B14F-4D97-AF65-F5344CB8AC3E}">
        <p14:creationId xmlns:p14="http://schemas.microsoft.com/office/powerpoint/2010/main" val="933137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3C5BB-2FF7-46A7-A9DE-92A49846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72C9-3499-4A94-B830-45F0774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2EA43-6EC9-442E-99B9-C95E5C5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工作日更集中，非工作日高峰更晚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D9EC-7D62-480B-8CFE-A37BF23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有效工作日81天；非工作日36天。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238125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92148d7a7f40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8062C-9C28-408A-A402-78FE64EF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8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日均进站量（万人次）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B244C-A66C-4B9C-B3E4-5AC297F3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86175"/>
            <a:ext cx="338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工作日峰值：08—09时</a:t>
            </a:r>
          </a:p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平均96.7万人次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D0175-88C4-4F66-B9C8-CB227D9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38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非工作日峰值：17—18时</a:t>
            </a:r>
          </a:p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平均34.4万人次</a:t>
            </a:r>
          </a:p>
        </p:txBody>
      </p:sp>
    </p:spTree>
    <p:extLst>
      <p:ext uri="{BB962C8B-B14F-4D97-AF65-F5344CB8AC3E}">
        <p14:creationId xmlns:p14="http://schemas.microsoft.com/office/powerpoint/2010/main" val="1167857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2DB18-E881-42B3-8632-933DD5A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3F510-8F26-46CB-9D11-DA328990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1F2BA-182A-427C-B161-880CAF9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排名回答“多不多”，地图回答“在哪里”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BEFEC-CB7A-4337-B1C5-46A95B9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同一有效日期集合下比较站点日均进站量。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6b0cbda1b46c1"/>
          <a:stretch xmlns:a="http://schemas.openxmlformats.org/drawingml/2006/main"/>
        </p:blipFill>
        <p:spPr>
          <a:xfrm xmlns:a="http://schemas.openxmlformats.org/drawingml/2006/main">
            <a:off x="1254654" y="2286000"/>
            <a:ext cx="582506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1C898-172C-46A7-88F1-3EE48A8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People's Square</a:t>
            </a:r>
          </a:p>
          <a:p xmlns:a="http://schemas.openxmlformats.org/drawingml/2006/main">
            <a:pPr>
              <a:def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15.38万人次/日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C3936-A2E7-4DDC-877D-9C162CE9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Xujiahui</a:t>
            </a:r>
          </a:p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10.21万人次/日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1DA38-7A30-4526-8151-73D9FDB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Jing'an Temple</a:t>
            </a:r>
          </a:p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10.16万人次/日</a:t>
            </a:r>
          </a:p>
        </p:txBody>
      </p:sp>
    </p:spTree>
    <p:extLst>
      <p:ext uri="{BB962C8B-B14F-4D97-AF65-F5344CB8AC3E}">
        <p14:creationId xmlns:p14="http://schemas.microsoft.com/office/powerpoint/2010/main" val="694520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22F6-65E6-464D-838B-B8D16C70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BFA38-D2FF-4258-BA70-AC247EE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C3CD6-3267-4D31-8B85-70856C3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出行构成与方向，应放在一起解释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73340-5BAC-4E66-96B8-BC3021FF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C/HBO/NHB为发布方推断类别，本组没有重新训练分类器。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2476500"/>
          <a:ext xmlns:a="http://schemas.openxmlformats.org/drawingml/2006/main" cx="70485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ea80cf18444d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0618A-FE91-4C20-9E22-0C35CC22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进站构成 /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7062A-14BC-40B5-9192-37B6D83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非居家占比最高</a:t>
            </a:r>
          </a:p>
          <a:p xmlns:a="http://schemas.openxmlformats.org/drawingml/2006/main">
            <a:pPr>
              <a:defRPr sz="19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38.46%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71BD3-2323-465A-8EA8-C55FCBC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86175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早晚方向指数</a:t>
            </a:r>
          </a:p>
          <a:p xmlns:a="http://schemas.openxmlformats.org/drawingml/2006/main">
            <a:pPr>
              <a:def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(进−出)/(进+出)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E1D9D-6238-4D1E-961F-CAD9907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0060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先合计人次再算比例</a:t>
            </a:r>
          </a:p>
          <a:p xmlns:a="http://schemas.openxmlformats.org/drawingml/2006/main">
            <a:pPr>
              <a:def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不直接平均每行比例</a:t>
            </a:r>
          </a:p>
        </p:txBody>
      </p:sp>
    </p:spTree>
    <p:extLst>
      <p:ext uri="{BB962C8B-B14F-4D97-AF65-F5344CB8AC3E}">
        <p14:creationId xmlns:p14="http://schemas.microsoft.com/office/powerpoint/2010/main" val="1870302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4A440-7405-4F16-B89C-DCF7FEC9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7CC15-7B93-4660-A1FE-16217557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31CFE-2B0A-499C-9BA2-F4FE089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天气存在负向关联，但不能解释为因果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4E955-DD16-4082-BE9C-7EA71BE4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同类日期分别比较，避免把工作日差异混进天气结论。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bb1f9e87347c7"/>
          <a:stretch xmlns:a="http://schemas.openxmlformats.org/drawingml/2006/main"/>
        </p:blipFill>
        <p:spPr>
          <a:xfrm xmlns:a="http://schemas.openxmlformats.org/drawingml/2006/main">
            <a:off x="1254654" y="2286000"/>
            <a:ext cx="582506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3D5FD-4927-4BBE-BAD0-AF41ED8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50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工作日：81天</a:t>
            </a:r>
          </a:p>
          <a:p xmlns:a="http://schemas.openxmlformats.org/drawingml/2006/main">
            <a:pPr>
              <a:defRPr sz="18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温度 −0.490 / 雨量 −0.226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2C707-A0B1-495D-8248-2DF5239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50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非工作日：36天</a:t>
            </a:r>
          </a:p>
          <a:p xmlns:a="http://schemas.openxmlformats.org/drawingml/2006/main">
            <a:pPr>
              <a:def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温度 −0.505 / 雨量 −0.451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AAA6-3BDF-492E-9559-E8C1A17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350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Spearman相关</a:t>
            </a:r>
          </a:p>
          <a:p xmlns:a="http://schemas.openxmlformats.org/drawingml/2006/main">
            <a:pPr>
              <a:def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单个城市代表点</a:t>
            </a:r>
          </a:p>
        </p:txBody>
      </p:sp>
    </p:spTree>
    <p:extLst>
      <p:ext uri="{BB962C8B-B14F-4D97-AF65-F5344CB8AC3E}">
        <p14:creationId xmlns:p14="http://schemas.microsoft.com/office/powerpoint/2010/main" val="159020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49F3D-4565-4D87-A09C-0BC2205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9F938-ABE0-447C-9B85-7A37473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095C3-1657-49F6-9F42-73363884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站点周边POI越密集，客流通常也越高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B9F74-DBAF-4FD2-BD4A-CA305DE4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1公里范围采用功能类POI，相关关系不等于因果。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065db0e484edd"/>
          <a:stretch xmlns:a="http://schemas.openxmlformats.org/drawingml/2006/main"/>
        </p:blipFill>
        <p:spPr>
          <a:xfrm xmlns:a="http://schemas.openxmlformats.org/drawingml/2006/main">
            <a:off x="1709738" y="2286000"/>
            <a:ext cx="49149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5877F-638F-4B9B-9443-AF9C283D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密度与进站量</a:t>
            </a:r>
          </a:p>
          <a:p xmlns:a="http://schemas.openxmlformats.org/drawingml/2006/main">
            <a:pPr>
              <a:def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Spearman ρ = 0.627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81333-FBB4-4EBE-83D2-80B29A28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95%自助法区间</a:t>
            </a:r>
          </a:p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0.539—0.698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AF6AD-811D-4E67-95EA-12BB96A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高密度组客流中位数</a:t>
            </a:r>
          </a:p>
          <a:p xmlns:a="http://schemas.openxmlformats.org/drawingml/2006/main">
            <a:pPr>
              <a:def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是低密度组的3.30倍</a:t>
            </a:r>
          </a:p>
        </p:txBody>
      </p:sp>
    </p:spTree>
    <p:extLst>
      <p:ext uri="{BB962C8B-B14F-4D97-AF65-F5344CB8AC3E}">
        <p14:creationId xmlns:p14="http://schemas.microsoft.com/office/powerpoint/2010/main" val="1712765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A84E8-A2CB-40EF-A984-F481FD9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5F891-6324-4C04-9097-AB07F81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E0493-6E77-4861-8A5C-F55C92EF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相对曲线聚成2组，内部评价为0.427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2A984-73D8-49A6-8B10-9107DD8C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初始参照为3组；统一比较2—5组后选择最高轮廓系数。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2381250"/>
          <a:ext xmlns:a="http://schemas.openxmlformats.org/drawingml/2006/main" cx="6953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a67d4f5b4e43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928D4-1BB1-4FFB-9517-D21D92A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50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175站 / 127站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AECAD-7553-4271-BA26-6D0CB17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50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输入：两类日期 ×</a:t>
            </a:r>
          </a:p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17小时 × 进出 = 68项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C3599-45B4-43DA-9C91-E917BC6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50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评价已有数据的结构</a:t>
            </a:r>
          </a:p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不代表预测准确率</a:t>
            </a:r>
          </a:p>
        </p:txBody>
      </p:sp>
    </p:spTree>
    <p:extLst>
      <p:ext uri="{BB962C8B-B14F-4D97-AF65-F5344CB8AC3E}">
        <p14:creationId xmlns:p14="http://schemas.microsoft.com/office/powerpoint/2010/main" val="342205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3E5E7-5729-4754-BCEC-49ED705B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05396-063F-499F-AB36-E56BD9C7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4B7DB-79AF-4683-97C4-E592748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一次演示：筛选、定位、解释、导出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E2074-16CE-4EA1-A309-B36FE58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七页系统共用清楚的统计口径。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bfe07cd09474b"/>
          <a:stretch xmlns:a="http://schemas.openxmlformats.org/drawingml/2006/main"/>
        </p:blipFill>
        <p:spPr>
          <a:xfrm xmlns:a="http://schemas.openxmlformats.org/drawingml/2006/main">
            <a:off x="1254654" y="2286000"/>
            <a:ext cx="582506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11063-9505-43D6-A5D6-391BD3E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概览 → 时间 → 站点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DD7B0-D712-4045-8F9A-AAEFA97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出行模式 → 天气 → POI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DF343-B606-403E-9D10-CCBA346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质量核对与结果导出</a:t>
            </a:r>
          </a:p>
        </p:txBody>
      </p:sp>
    </p:spTree>
    <p:extLst>
      <p:ext uri="{BB962C8B-B14F-4D97-AF65-F5344CB8AC3E}">
        <p14:creationId xmlns:p14="http://schemas.microsoft.com/office/powerpoint/2010/main" val="1358531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AE672-AD2C-4320-A3F8-FB2874CF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C9676-0B11-45FB-9391-A1F6D1E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786DC-1020-477E-8975-65C9201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把可运行与可解释一起交付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2329E-3AF0-4430-B7A4-0D6C1AC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开发验证有记录，现场验收仍要实做。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4B76E-75A0-410C-9AA1-508A03C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19项测试通过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74C4A-EDB8-428D-9FC7-C03169E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清洗边界、统计口径、七页、POI处理、筛选及空状态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908C0-CBA9-4CC8-84C3-A3ADF8A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源代码ZIP小于30MB；独立便携包内置Python与数据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15D1B-9E69-4577-BC91-3C944D6E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仍需：另一台Windows电脑断网测试、学号补齐、材料核验</a:t>
            </a:r>
          </a:p>
        </p:txBody>
      </p:sp>
    </p:spTree>
    <p:extLst>
      <p:ext uri="{BB962C8B-B14F-4D97-AF65-F5344CB8AC3E}">
        <p14:creationId xmlns:p14="http://schemas.microsoft.com/office/powerpoint/2010/main" val="17444662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3B76F-4B65-4055-8E80-D34BEE4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沪上流动  /  软件开发实践1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4491A-118B-42F0-A90A-7C8EAAD6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32F6-0A69-4523-BCA6-499A7F6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结论有依据，边界也要讲清楚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D336A-BDFA-45DA-AEC3-485C755B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C77"/>
                </a:solidFill>
                <a:latin typeface="Microsoft YaHei"/>
                <a:ea typeface="Microsoft YaHei"/>
                <a:cs typeface="Microsoft YaHei"/>
              </a:rPr>
              <a:t>从公开历史数据出发，完成可复现的本科分析系统。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4D5BC-ECAE-43A6-9AAB-1F5FED7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9DDDF-2D96-4A6D-B20F-ADB66E4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时间与空间规律、方向与构成、天气和POI关联、站点分组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FDFD4-5862-43A8-8320-8F85EF82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特色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1F651-E4D1-4FC6-A968-09019C94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离线交互、共同有效日期、清楚的质量说明与AI留档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61F08-59F3-4389-97CF-39EC877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887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DE08F-EAEE-4A80-B4EB-B5A87CB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3442"/>
                </a:solidFill>
                <a:latin typeface="Microsoft YaHei"/>
                <a:ea typeface="Microsoft YaHei"/>
                <a:cs typeface="Microsoft YaHei"/>
              </a:rPr>
              <a:t>历史样本、单点天气、POI覆盖边界；关联结论不能代替因果分析</a:t>
            </a:r>
          </a:p>
        </p:txBody>
      </p:sp>
    </p:spTree>
    <p:extLst>
      <p:ext uri="{BB962C8B-B14F-4D97-AF65-F5344CB8AC3E}">
        <p14:creationId xmlns:p14="http://schemas.microsoft.com/office/powerpoint/2010/main" val="70515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2026-09-07T05:16:49.8080000Z</dcterms:created>
  <dcterms:modified xsi:type="dcterms:W3CDTF">2026-09-07T05:16:49.8080000Z</dcterms:modified>
</coreProperties>
</file>