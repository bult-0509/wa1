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5b1352fe6a43ea" /><Relationship Type="http://schemas.openxmlformats.org/officeDocument/2006/relationships/extended-properties" Target="/docProps/app.xml" Id="R078994be1c584ad2" /><Relationship Type="http://schemas.openxmlformats.org/officeDocument/2006/relationships/officeDocument" Target="/ppt/presentation.xml" Id="R0052fd2c12664d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bbfb9a0f5146bd"/>
  </p:sldMasterIdLst>
  <p:notesMasterIdLst>
    <p:notesMasterId xmlns:r="http://schemas.openxmlformats.org/officeDocument/2006/relationships" r:id="R6f0e535fb56d4483"/>
  </p:notesMasterIdLst>
  <p:sldIdLst>
    <p:sldId xmlns:r="http://schemas.openxmlformats.org/officeDocument/2006/relationships" id="256" r:id="Rff65f41490384a00"/>
    <p:sldId xmlns:r="http://schemas.openxmlformats.org/officeDocument/2006/relationships" id="257" r:id="Re9eb3197e23f4bd2"/>
    <p:sldId xmlns:r="http://schemas.openxmlformats.org/officeDocument/2006/relationships" id="258" r:id="R2a914d4b6ac6412e"/>
    <p:sldId xmlns:r="http://schemas.openxmlformats.org/officeDocument/2006/relationships" id="259" r:id="R3ee9ec4d68024755"/>
    <p:sldId xmlns:r="http://schemas.openxmlformats.org/officeDocument/2006/relationships" id="260" r:id="R5094837335004dbf"/>
    <p:sldId xmlns:r="http://schemas.openxmlformats.org/officeDocument/2006/relationships" id="261" r:id="R7a140f18e71c434c"/>
    <p:sldId xmlns:r="http://schemas.openxmlformats.org/officeDocument/2006/relationships" id="262" r:id="R919c571f162b434a"/>
    <p:sldId xmlns:r="http://schemas.openxmlformats.org/officeDocument/2006/relationships" id="263" r:id="R1ceb2f37c46a44e1"/>
    <p:sldId xmlns:r="http://schemas.openxmlformats.org/officeDocument/2006/relationships" id="264" r:id="R1693e1ddc1ad4301"/>
    <p:sldId xmlns:r="http://schemas.openxmlformats.org/officeDocument/2006/relationships" id="265" r:id="R7c86399e70724931"/>
    <p:sldId xmlns:r="http://schemas.openxmlformats.org/officeDocument/2006/relationships" id="266" r:id="R16a967daecf44cc8"/>
    <p:sldId xmlns:r="http://schemas.openxmlformats.org/officeDocument/2006/relationships" id="267" r:id="Rac2fa19ba7ab4c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323813549245b1" /><Relationship Type="http://schemas.openxmlformats.org/officeDocument/2006/relationships/slideMaster" Target="/ppt/slideMasters/slideMaster1.xml" Id="R4ebbfb9a0f5146bd" /><Relationship Type="http://schemas.openxmlformats.org/officeDocument/2006/relationships/notesMaster" Target="/ppt/notesMasters/notesMaster1.xml" Id="R6f0e535fb56d4483" /><Relationship Type="http://schemas.openxmlformats.org/officeDocument/2006/relationships/presProps" Target="/ppt/presProps.xml" Id="R3db344cc04544b16" /><Relationship Type="http://schemas.openxmlformats.org/officeDocument/2006/relationships/tableStyles" Target="/ppt/tableStyles.xml" Id="Ra4184a99040b47e1" /><Relationship Type="http://schemas.openxmlformats.org/officeDocument/2006/relationships/slide" Target="/ppt/slides/slide1.xml" Id="Rff65f41490384a00" /><Relationship Type="http://schemas.openxmlformats.org/officeDocument/2006/relationships/slide" Target="/ppt/slides/slide2.xml" Id="Re9eb3197e23f4bd2" /><Relationship Type="http://schemas.openxmlformats.org/officeDocument/2006/relationships/slide" Target="/ppt/slides/slide3.xml" Id="R2a914d4b6ac6412e" /><Relationship Type="http://schemas.openxmlformats.org/officeDocument/2006/relationships/slide" Target="/ppt/slides/slide4.xml" Id="R3ee9ec4d68024755" /><Relationship Type="http://schemas.openxmlformats.org/officeDocument/2006/relationships/slide" Target="/ppt/slides/slide5.xml" Id="R5094837335004dbf" /><Relationship Type="http://schemas.openxmlformats.org/officeDocument/2006/relationships/slide" Target="/ppt/slides/slide6.xml" Id="R7a140f18e71c434c" /><Relationship Type="http://schemas.openxmlformats.org/officeDocument/2006/relationships/slide" Target="/ppt/slides/slide7.xml" Id="R919c571f162b434a" /><Relationship Type="http://schemas.openxmlformats.org/officeDocument/2006/relationships/slide" Target="/ppt/slides/slide8.xml" Id="R1ceb2f37c46a44e1" /><Relationship Type="http://schemas.openxmlformats.org/officeDocument/2006/relationships/slide" Target="/ppt/slides/slide9.xml" Id="R1693e1ddc1ad4301" /><Relationship Type="http://schemas.openxmlformats.org/officeDocument/2006/relationships/slide" Target="/ppt/slides/slide10.xml" Id="R7c86399e70724931" /><Relationship Type="http://schemas.openxmlformats.org/officeDocument/2006/relationships/slide" Target="/ppt/slides/slide11.xml" Id="R16a967daecf44cc8" /><Relationship Type="http://schemas.openxmlformats.org/officeDocument/2006/relationships/slide" Target="/ppt/slides/slide12.xml" Id="Rac2fa19ba7ab4c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0a8f6eba2e4c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e32b18a2a14e1f" /><Relationship Type="http://schemas.openxmlformats.org/officeDocument/2006/relationships/notesMaster" Target="/ppt/notesMasters/notesMaster1.xml" Id="Ra789dbdb4d714a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2ebd62d0434406" /><Relationship Type="http://schemas.openxmlformats.org/officeDocument/2006/relationships/notesMaster" Target="/ppt/notesMasters/notesMaster1.xml" Id="R883613a45d5344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99e3d7eeb34158" /><Relationship Type="http://schemas.openxmlformats.org/officeDocument/2006/relationships/notesMaster" Target="/ppt/notesMasters/notesMaster1.xml" Id="R75bcc309404648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051f28f2834dcd" /><Relationship Type="http://schemas.openxmlformats.org/officeDocument/2006/relationships/notesMaster" Target="/ppt/notesMasters/notesMaster1.xml" Id="Rbb539b0cd1534d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6f1a6dbc7d4731" /><Relationship Type="http://schemas.openxmlformats.org/officeDocument/2006/relationships/notesMaster" Target="/ppt/notesMasters/notesMaster1.xml" Id="Radea68e6bfd045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0fc9f607a44036" /><Relationship Type="http://schemas.openxmlformats.org/officeDocument/2006/relationships/notesMaster" Target="/ppt/notesMasters/notesMaster1.xml" Id="Rc220f450cae44d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7d0e262b5f44f3" /><Relationship Type="http://schemas.openxmlformats.org/officeDocument/2006/relationships/notesMaster" Target="/ppt/notesMasters/notesMaster1.xml" Id="R3e8fb0ccf9c44d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66dfa1e4244579" /><Relationship Type="http://schemas.openxmlformats.org/officeDocument/2006/relationships/notesMaster" Target="/ppt/notesMasters/notesMaster1.xml" Id="Rd44bb68f76f441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e33425a6564e23" /><Relationship Type="http://schemas.openxmlformats.org/officeDocument/2006/relationships/notesMaster" Target="/ppt/notesMasters/notesMaster1.xml" Id="R14fe96a3851947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78f5393e1e4aba" /><Relationship Type="http://schemas.openxmlformats.org/officeDocument/2006/relationships/notesMaster" Target="/ppt/notesMasters/notesMaster1.xml" Id="Rdd7c076ad07442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1633c550634abd" /><Relationship Type="http://schemas.openxmlformats.org/officeDocument/2006/relationships/notesMaster" Target="/ppt/notesMasters/notesMaster1.xml" Id="R4a1c8b1c67ec4d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41efc08a1d4e38" /><Relationship Type="http://schemas.openxmlformats.org/officeDocument/2006/relationships/notesMaster" Target="/ppt/notesMasters/notesMaster1.xml" Id="Reb5bc98919a347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约25秒。介绍项目题目与范围。说明使用公开历史聚合客流，目标是可解释的分析和稳定的离线演示。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约30秒。课程硬要求包括预处理、描述性统计、客流规律、出行模式和地图。KMeans为本组已选择增强，课程原文没有强制预测。用户确定范围；这里没有加入爬虫、OD和复杂模型。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本地课程文件：软件开发实践1-项目要求【2026.9】.docx</a:t>
            </a:r>
          </a:p>
          <a:p xmlns:a="http://schemas.openxmlformats.org/drawingml/2006/main">
            <a:r>
              <a:t>本地规格：docs/requirements/需求冻结版项目规格.md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原始CSV为10分钟站点汇总，正常统计前检查类型、唯一键、分项和、站点与时段完整性。六个缺损日仍保留在质量页面，不是把它们删除后隐藏。处理后小时表631482行，约8.4MB结果可供演示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约30秒。数据处理、分析、聚类和绘图各有模块；app.py只组织页面，启动器管理自己的服务。技术版本详见requirements.txt，不在界面暴露随机种子等开发参数。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本地源码：src/、app.py、launch.py、requirements.txt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先区分工作日与非工作日，再比较典型小时曲线。调休以来源日历为准。全网日均622.9万人次，峰值日期5月19日。这里的人次不是独立乘客数量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约35秒。图为真实站点空间页面。英文站名沿用数据源。地图坐标是地理位置，邻接连线不是轨道精确走向；不能据此推断OD和换乘人数。本项目按MetroFlow公开数据计算，2017-05-01至08-31，302站、117个有效日期。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本地实际截图：docs/screenshots/S03-stations.png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40秒。三类绝对进站量分别233455300、215063027、280295483；总和等于有效进站量。方向指数正值表示进站更多，零分母不算；峰段使用左闭右开7—9和17—19时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约35秒。天气按日汇总，温度取均值，降雨求和，要求24小时完整。负相关不能说明因果，月份、节假日等还可能影响结果。本项目按MetroFlow公开数据计算，2017-05-01至08-31，302站、117个有效日期。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本地实际截图：docs/screenshots/S07-weather.png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45秒。每种日类型的进出34项先归一化，减少规模对分组的主导；分组1呈工作日早进晚出突出。没有土地利用外部标签，不直接命名住宅区。固定seed42、n_init10仅帮助复现，无需在用户界面调参。本项目按MetroFlow公开数据计算，2017-05-01至08-31，302站、117个有效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本地结果：data/processed/clusters/evaluation.csv、说明.json</a:t>
            </a:r>
          </a:p>
          <a:p xmlns:a="http://schemas.openxmlformats.org/drawingml/2006/main">
            <a:r>
              <a:t>https://scikit-learn.org/stable/modules/clustering.html</a:t>
            </a:r>
          </a:p>
          <a:p xmlns:a="http://schemas.openxmlformats.org/drawingml/2006/main">
            <a:r>
              <a:t>https://doi.org/10.1038/s41597-025-05416-8</a:t>
            </a:r>
          </a:p>
          <a:p xmlns:a="http://schemas.openxmlformats.org/drawingml/2006/main">
            <a:r>
              <a:t>https://doi.org/10.6084/m9.figshare.28844942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预留约60秒现场演示：先看时间规律，再进入站点空间选择站点，切换出行模式，最后展示质量和导出。不要在答辩时重新训练模型。若现场演示未能完成，可用本页真实截图解释，但不能声称异机已通过。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本地实际截图：docs/screenshots/S01-overview.png</a:t>
            </a:r>
          </a:p>
          <a:p xmlns:a="http://schemas.openxmlformats.org/drawingml/2006/main">
            <a:r>
              <a:t>本地源码：app.py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约35秒。说明已完成的开发测试，避免把中文空格目录测试说成真实异机。代码ZIP小于30MB，运行环境单独打包。源代码、报告、PPT、个人调研和AI附件均在总包。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本地证据：docs/测试与验收记录.md、docs/ai-process/最终自动化测试.log、dist/包大小.json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约30秒收尾，之后预留问答。团队计划各25%；Codex生成程序和材料，用户确定范围并指导精简。真实人工修改和验收在发生后记录，不补造贡献。可回答：为何排除六天？为何不做预测？为何选择2组？为何进站人次不等于人数？为什么双包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本地报告：docs/deliverables/期末报告.docx</a:t>
            </a:r>
          </a:p>
          <a:p xmlns:a="http://schemas.openxmlformats.org/drawingml/2006/main">
            <a:r>
              <a:t>本地AI附件：docs/deliverables/AI辅助过程附件.docx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ffd37b2c34d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d3ad12b1f04d2f" /><Relationship Type="http://schemas.openxmlformats.org/officeDocument/2006/relationships/slideLayout" Target="/ppt/slideLayouts/slideLayout1.xml" Id="R10b457b46be745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b457b46be745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4956025864b8e" /><Relationship Type="http://schemas.openxmlformats.org/officeDocument/2006/relationships/notesSlide" Target="/ppt/notesSlides/notesSlide1.xml" Id="Ra9205699dc884d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ee18adc074121" /><Relationship Type="http://schemas.openxmlformats.org/officeDocument/2006/relationships/notesSlide" Target="/ppt/notesSlides/notesSlide2.xml" Id="R4f3640d14ee347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ea23ac1064b83" /><Relationship Type="http://schemas.openxmlformats.org/officeDocument/2006/relationships/notesSlide" Target="/ppt/notesSlides/notesSlide3.xml" Id="Re01fb81c7e5847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75437105d46c8" /><Relationship Type="http://schemas.openxmlformats.org/officeDocument/2006/relationships/notesSlide" Target="/ppt/notesSlides/notesSlide4.xml" Id="Reb3b8029c56443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92e38e6f3491b" /><Relationship Type="http://schemas.openxmlformats.org/officeDocument/2006/relationships/chart" Target="/ppt/slides/charts/chart1.xml" Id="Re5bb174e43704c81" /><Relationship Type="http://schemas.openxmlformats.org/officeDocument/2006/relationships/notesSlide" Target="/ppt/notesSlides/notesSlide5.xml" Id="R184a8272f08043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b9d849ffe4bfa" /><Relationship Type="http://schemas.openxmlformats.org/officeDocument/2006/relationships/image" Target="/ppt/media/image.jpeg" Id="Rc78cb53239094a73" /><Relationship Type="http://schemas.openxmlformats.org/officeDocument/2006/relationships/notesSlide" Target="/ppt/notesSlides/notesSlide6.xml" Id="R4c8e280e253842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e99c3fc0d4134" /><Relationship Type="http://schemas.openxmlformats.org/officeDocument/2006/relationships/chart" Target="/ppt/slides/charts/chart2.xml" Id="R282ada608dca4749" /><Relationship Type="http://schemas.openxmlformats.org/officeDocument/2006/relationships/notesSlide" Target="/ppt/notesSlides/notesSlide7.xml" Id="Rcaef892c016a46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64e431cfc43b0" /><Relationship Type="http://schemas.openxmlformats.org/officeDocument/2006/relationships/image" Target="/ppt/media/image2.jpeg" Id="R12272b899b154948" /><Relationship Type="http://schemas.openxmlformats.org/officeDocument/2006/relationships/notesSlide" Target="/ppt/notesSlides/notesSlide8.xml" Id="Rdf3691abbe9844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7249753074a7b" /><Relationship Type="http://schemas.openxmlformats.org/officeDocument/2006/relationships/chart" Target="/ppt/slides/charts/chart3.xml" Id="R5e508f84bd8e4f5a" /><Relationship Type="http://schemas.openxmlformats.org/officeDocument/2006/relationships/notesSlide" Target="/ppt/notesSlides/notesSlide9.xml" Id="R44c2352bc2cc4b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a9990f9dc4370" /><Relationship Type="http://schemas.openxmlformats.org/officeDocument/2006/relationships/image" Target="/ppt/media/image3.jpeg" Id="Rf1fdce86cbc94ef0" /><Relationship Type="http://schemas.openxmlformats.org/officeDocument/2006/relationships/notesSlide" Target="/ppt/notesSlides/notesSlide10.xml" Id="Rfec0fa0076f34d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039c3282c4536" /><Relationship Type="http://schemas.openxmlformats.org/officeDocument/2006/relationships/notesSlide" Target="/ppt/notesSlides/notesSlide11.xml" Id="Rbfbb197cff594c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f49a751824338" /><Relationship Type="http://schemas.openxmlformats.org/officeDocument/2006/relationships/notesSlide" Target="/ppt/notesSlides/notesSlide12.xml" Id="Rd075fcf124ac4f6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日均进站 / 万人次</c:v>
          </c:tx>
          <c:spPr>
            <a:solidFill xmlns:a="http://schemas.openxmlformats.org/drawingml/2006/main">
              <a:srgbClr val="187887"/>
            </a:solidFill>
            <a:ln xmlns:a="http://schemas.openxmlformats.org/drawingml/2006/main" w="28575">
              <a:solidFill>
                <a:srgbClr val="187887"/>
              </a:solidFill>
            </a:ln>
          </c:spPr>
          <c:cat>
            <c:strLit>
              <c:ptCount val="2"/>
              <c:pt idx="0">
                <c:v>工作日</c:v>
              </c:pt>
              <c:pt idx="1">
                <c:v>非工作日</c:v>
              </c:pt>
            </c:strLit>
          </c:cat>
          <c:val>
            <c:numLit>
              <c:formatCode>General</c:formatCode>
              <c:ptCount val="2"/>
              <c:pt idx="0">
                <c:v>699.3</c:v>
              </c:pt>
              <c:pt idx="1">
                <c:v>451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2344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C7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C77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进站构成 / %</c:v>
          </c:tx>
          <c:spPr>
            <a:solidFill xmlns:a="http://schemas.openxmlformats.org/drawingml/2006/main">
              <a:srgbClr val="187887"/>
            </a:solidFill>
            <a:ln xmlns:a="http://schemas.openxmlformats.org/drawingml/2006/main" w="28575">
              <a:solidFill>
                <a:srgbClr val="187887"/>
              </a:solidFill>
            </a:ln>
          </c:spPr>
          <c:cat>
            <c:strLit>
              <c:ptCount val="3"/>
              <c:pt idx="0">
                <c:v>通勤 C</c:v>
              </c:pt>
              <c:pt idx="1">
                <c:v>居家其他 HBO</c:v>
              </c:pt>
              <c:pt idx="2">
                <c:v>非居家 NHB</c:v>
              </c:pt>
            </c:strLit>
          </c:cat>
          <c:val>
            <c:numLit>
              <c:formatCode>General</c:formatCode>
              <c:ptCount val="3"/>
              <c:pt idx="0">
                <c:v>32.03</c:v>
              </c:pt>
              <c:pt idx="1">
                <c:v>29.51</c:v>
              </c:pt>
              <c:pt idx="2">
                <c:v>38.46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2344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C7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C77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轮廓系数</c:v>
          </c:tx>
          <c:spPr>
            <a:solidFill xmlns:a="http://schemas.openxmlformats.org/drawingml/2006/main">
              <a:srgbClr val="187887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650">
                        <a:solidFill>
                          <a:srgbClr val="123442"/>
                        </a:solidFill>
                      </a:rPr>
                      <a:t>0.427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>
                      <a:solidFill>
                        <a:srgbClr val="123442"/>
                      </a:solidFill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650">
                        <a:solidFill>
                          <a:srgbClr val="123442"/>
                        </a:solidFill>
                      </a:rPr>
                      <a:t>0.299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>
                      <a:solidFill>
                        <a:srgbClr val="123442"/>
                      </a:solidFill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650">
                        <a:solidFill>
                          <a:srgbClr val="123442"/>
                        </a:solidFill>
                      </a:rPr>
                      <a:t>0.260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>
                      <a:solidFill>
                        <a:srgbClr val="123442"/>
                      </a:solidFill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650">
                        <a:solidFill>
                          <a:srgbClr val="123442"/>
                        </a:solidFill>
                      </a:rPr>
                      <a:t>0.205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650">
                      <a:solidFill>
                        <a:srgbClr val="123442"/>
                      </a:solidFill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2组</c:v>
              </c:pt>
              <c:pt idx="1">
                <c:v>3组</c:v>
              </c:pt>
              <c:pt idx="2">
                <c:v>4组</c:v>
              </c:pt>
              <c:pt idx="3">
                <c:v>5组</c:v>
              </c:pt>
            </c:strLit>
          </c:cat>
          <c:val>
            <c:numLit>
              <c:formatCode>0.000</c:formatCode>
              <c:ptCount val="4"/>
              <c:pt idx="0">
                <c:v>0.427</c:v>
              </c:pt>
              <c:pt idx="1">
                <c:v>0.299</c:v>
              </c:pt>
              <c:pt idx="2">
                <c:v>0.26</c:v>
              </c:pt>
              <c:pt idx="3">
                <c:v>0.205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2344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C7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A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C77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4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F7FA0-6CE4-48DC-A9D6-9017554E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9ACD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9ACDCD"/>
                </a:solidFill>
                <a:latin typeface="Microsoft YaHei"/>
                <a:ea typeface="Microsoft YaHei"/>
                <a:cs typeface="Microsoft YaHei"/>
              </a:rPr>
              <a:t>软件开发实践1 · 选题1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C9FED-1D1E-4461-9422-3A1EEF5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沪上流动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F13BC-B980-4941-8B0B-122D3822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上海地铁客流时空规律分析与可视化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5F145-84D6-4CFA-B2DB-860391B6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D0D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B7D0D6"/>
                </a:solidFill>
                <a:latin typeface="Microsoft YaHei"/>
                <a:ea typeface="Microsoft YaHei"/>
                <a:cs typeface="Microsoft YaHei"/>
              </a:rPr>
              <a:t>2017年5—8月  /  302站  /  本地离线交互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44E45-389E-4C12-8819-2F1B0B29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[01] 林睿信 · 吴旻昊 · 朱子墨 · 邢雨晨</a:t>
            </a:r>
          </a:p>
        </p:txBody>
      </p:sp>
    </p:spTree>
    <p:extLst>
      <p:ext uri="{BB962C8B-B14F-4D97-AF65-F5344CB8AC3E}">
        <p14:creationId xmlns:p14="http://schemas.microsoft.com/office/powerpoint/2010/main" val="15173720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98E9B-1D94-47AC-85AF-B7929380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BF882-A41C-4708-8CD1-8F7D49F2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3AAEF-C51E-415F-93C0-9DE8F867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五个问题决定功能范围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727FD-B0B2-44E8-8D82-7CCD060F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每个页面都要回答问题，并给出可核验的结果。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D5FB9-B4E4-404F-B4DD-5065D7A3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A  高峰何时出现？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9C5996-BD7E-40E0-9BE7-B9DBD604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B  哪些站点更繁忙，在哪里？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B16FC-1878-4336-AAEC-A721734D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C  早晚进出方向如何变化？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06E96-8305-4C27-BA59-4F155B74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D  三类出行各占多少？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D3021-2A27-4ACC-9575-C8896B2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E  天气与客流是否有关？</a:t>
            </a:r>
          </a:p>
        </p:txBody>
      </p:sp>
    </p:spTree>
    <p:extLst>
      <p:ext uri="{BB962C8B-B14F-4D97-AF65-F5344CB8AC3E}">
        <p14:creationId xmlns:p14="http://schemas.microsoft.com/office/powerpoint/2010/main" val="6441280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B0D9C-6878-413A-B768-7FFAD7A1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97886-9161-47CB-B552-395F26E3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6DF55-6143-4580-A6BC-DFF329AA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378万行聚合记录，正常分析117天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A99D8-4F9E-4AD3-8193-264413ED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行数、客流人次与独立乘客人数是不同的统计对象。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A4C6A-EAD5-4D07-A50A-8EA935E4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714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8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3,788,892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E07A6-5CC6-43FD-AF67-0EF9061D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原始记录 / 13个字段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911DC-982F-49CD-94BF-40AD5C4C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123天 → 排除6个计数缺损日 → 117天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545FF-4187-4855-9B9C-5732ADEF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零流量保留；不把缺损日填成“正常低谷”。</a:t>
            </a:r>
          </a:p>
        </p:txBody>
      </p:sp>
    </p:spTree>
    <p:extLst>
      <p:ext uri="{BB962C8B-B14F-4D97-AF65-F5344CB8AC3E}">
        <p14:creationId xmlns:p14="http://schemas.microsoft.com/office/powerpoint/2010/main" val="5456915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22F008-8018-4425-83E4-F5638FDD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ECDAE-C37C-4651-8C90-653FF89D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75284-332F-45C1-8A6B-4B373A9E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把数据处理和页面展示分开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6A369-EEDC-46AF-8AFD-5E0D6774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四个小模块支撑六个页面，便于复核和答辩解释。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1D42B-DCDA-4051-BC76-CE080064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公开数据 → 检查与标记 → 小时/日聚合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E1C03-E7BD-46EB-A539-7B86D3F0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统计与聚类 → 本地加载 → 筛选、解释与导出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C04AD-46A7-41AB-A83B-B011A769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Python 3.13.15  ·  pandas  ·  Streamlit  ·  Plotly  ·  scikit-learn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B335A-7246-43A9-8A27-D8D2DA83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6262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离线地理图；运行时不请求在线地图或API。</a:t>
            </a:r>
          </a:p>
        </p:txBody>
      </p:sp>
    </p:spTree>
    <p:extLst>
      <p:ext uri="{BB962C8B-B14F-4D97-AF65-F5344CB8AC3E}">
        <p14:creationId xmlns:p14="http://schemas.microsoft.com/office/powerpoint/2010/main" val="20260285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A3C3A-A801-48A2-A0BE-2E8EB890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C0381-1873-4C3E-86F9-370F9C67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C1F6D-C8C5-4026-A099-2A935B0D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工作日更集中，非工作日高峰更晚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9ADEC-41DB-4086-8E0A-58FDC1F5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有效工作日81天；非工作日36天。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19125" y="2381250"/>
          <a:ext xmlns:a="http://schemas.openxmlformats.org/drawingml/2006/main" cx="6762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bb174e43704c8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AF6CE-75F9-4154-BE84-7AE15E8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3381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日均进站量（万人次）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FE719-4A90-4944-B348-36A2B90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86175"/>
            <a:ext cx="3381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工作日峰值：08—09时</a:t>
            </a:r>
          </a:p>
          <a:p xmlns:a="http://schemas.openxmlformats.org/drawingml/2006/main">
            <a:pPr>
              <a:def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平均96.7万人次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2B47C-C9B2-4FC2-B4D6-BEBB9222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381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非工作日峰值：17—18时</a:t>
            </a:r>
          </a:p>
          <a:p xmlns:a="http://schemas.openxmlformats.org/drawingml/2006/main">
            <a:pPr>
              <a:def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平均34.4万人次</a:t>
            </a:r>
          </a:p>
        </p:txBody>
      </p:sp>
    </p:spTree>
    <p:extLst>
      <p:ext uri="{BB962C8B-B14F-4D97-AF65-F5344CB8AC3E}">
        <p14:creationId xmlns:p14="http://schemas.microsoft.com/office/powerpoint/2010/main" val="1758604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1FBB5-2A36-454D-811E-6541C29A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FC072-CAA8-415B-9521-DAAE0759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07909-193D-49AE-BC4A-CA3DA577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排名回答“多不多”，地图回答“在哪里”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7D913-2EC2-46BD-BB68-D21F17D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同一有效日期集合下比较站点日均进站量。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cb53239094a73"/>
          <a:stretch xmlns:a="http://schemas.openxmlformats.org/drawingml/2006/main"/>
        </p:blipFill>
        <p:spPr>
          <a:xfrm xmlns:a="http://schemas.openxmlformats.org/drawingml/2006/main">
            <a:off x="1254654" y="2286000"/>
            <a:ext cx="5825067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D57E1-FDE9-4FB4-9405-1CCAA932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33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People's Square</a:t>
            </a:r>
          </a:p>
          <a:p xmlns:a="http://schemas.openxmlformats.org/drawingml/2006/main">
            <a:pPr>
              <a:def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15.38万人次/日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94DB5-D069-420B-AD98-FA72B30B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48075"/>
            <a:ext cx="333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Xujiahui</a:t>
            </a:r>
          </a:p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10.21万人次/日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D7728-803F-4CDE-B42B-8DBA876C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19650"/>
            <a:ext cx="3333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Jing'an Temple</a:t>
            </a:r>
          </a:p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10.16万人次/日</a:t>
            </a:r>
          </a:p>
        </p:txBody>
      </p:sp>
    </p:spTree>
    <p:extLst>
      <p:ext uri="{BB962C8B-B14F-4D97-AF65-F5344CB8AC3E}">
        <p14:creationId xmlns:p14="http://schemas.microsoft.com/office/powerpoint/2010/main" val="1798783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A648A-D222-4E11-81A0-FC91C188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991CE-9023-4C70-96D7-EFEE3C99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9847F-F285-4E82-9495-9F40E6E8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出行构成与方向，应放在一起解释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99E19-645F-4B24-B055-9FE0564F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C/HBO/NHB为发布方推断类别，本组没有重新训练分类器。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19125" y="2476500"/>
          <a:ext xmlns:a="http://schemas.openxmlformats.org/drawingml/2006/main" cx="7048500" cy="3571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2ada608dca474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91C93-C175-4146-AF08-520DE99F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52650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进站构成 / 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DADC6-B156-471E-804B-E616285C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71750"/>
            <a:ext cx="3429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非居家占比最高</a:t>
            </a:r>
          </a:p>
          <a:p xmlns:a="http://schemas.openxmlformats.org/drawingml/2006/main">
            <a:pPr>
              <a:defRPr sz="19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38.46%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4C25E-667A-48DC-A766-A2316006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86175"/>
            <a:ext cx="3429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早晚方向指数</a:t>
            </a:r>
          </a:p>
          <a:p xmlns:a="http://schemas.openxmlformats.org/drawingml/2006/main">
            <a:pPr>
              <a:def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(进−出)/(进+出)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94E8E-814E-4004-AFA2-F4A5F251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00600"/>
            <a:ext cx="3429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先合计人次再算比例</a:t>
            </a:r>
          </a:p>
          <a:p xmlns:a="http://schemas.openxmlformats.org/drawingml/2006/main">
            <a:pPr>
              <a:def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不直接平均每行比例</a:t>
            </a:r>
          </a:p>
        </p:txBody>
      </p:sp>
    </p:spTree>
    <p:extLst>
      <p:ext uri="{BB962C8B-B14F-4D97-AF65-F5344CB8AC3E}">
        <p14:creationId xmlns:p14="http://schemas.microsoft.com/office/powerpoint/2010/main" val="18883320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4EDDF-E197-4751-A21F-BAD6FC75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EFC2B-1711-4E14-8E37-27DCFDF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7EB05-B43D-4957-A199-107095EC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天气存在负向关联，但不能解释为因果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67C2B-4139-4664-B4C6-8EAC3E36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同类日期分别比较，避免把工作日差异混进天气结论。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72b899b154948"/>
          <a:stretch xmlns:a="http://schemas.openxmlformats.org/drawingml/2006/main"/>
        </p:blipFill>
        <p:spPr>
          <a:xfrm xmlns:a="http://schemas.openxmlformats.org/drawingml/2006/main">
            <a:off x="1254654" y="2286000"/>
            <a:ext cx="5825067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ED2C3-08F5-479F-BFD7-DC191F8F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57450"/>
            <a:ext cx="3505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工作日：81天</a:t>
            </a:r>
          </a:p>
          <a:p xmlns:a="http://schemas.openxmlformats.org/drawingml/2006/main">
            <a:pPr>
              <a:defRPr sz="187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温度 −0.490 / 雨量 −0.226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A70B1-5DB0-4DF3-ACB9-585F8F94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95700"/>
            <a:ext cx="3505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非工作日：36天</a:t>
            </a:r>
          </a:p>
          <a:p xmlns:a="http://schemas.openxmlformats.org/drawingml/2006/main">
            <a:pPr>
              <a:def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温度 −0.505 / 雨量 −0.451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285A0-8E73-42E7-913D-4DA9BAA4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33950"/>
            <a:ext cx="3505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Spearman相关</a:t>
            </a:r>
          </a:p>
          <a:p xmlns:a="http://schemas.openxmlformats.org/drawingml/2006/main">
            <a:pPr>
              <a:def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单个城市代表点</a:t>
            </a:r>
          </a:p>
        </p:txBody>
      </p:sp>
    </p:spTree>
    <p:extLst>
      <p:ext uri="{BB962C8B-B14F-4D97-AF65-F5344CB8AC3E}">
        <p14:creationId xmlns:p14="http://schemas.microsoft.com/office/powerpoint/2010/main" val="882817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E2E5C-1753-495F-BAEA-3F212BC5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00D1D-9604-41D1-AD00-9568387B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E23C7-59D0-4D4B-8C35-927270AA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相对曲线聚成2组，内部评价为0.427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B8158-DEAA-4545-AB6B-FB027183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初始参照为3组；统一比较2—5组后选择最高轮廓系数。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19125" y="2381250"/>
          <a:ext xmlns:a="http://schemas.openxmlformats.org/drawingml/2006/main" cx="69532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508f84bd8e4f5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8E6D3-3457-48B1-9216-186BED7A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35052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175站 / 127站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5DB99-06F8-4734-9335-60571F65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35052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输入：两类日期 ×</a:t>
            </a:r>
          </a:p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17小时 × 进出 = 68项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F8FC0D-937B-4C46-999A-52548810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05350"/>
            <a:ext cx="35052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评价已有数据的结构</a:t>
            </a:r>
          </a:p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不代表预测准确率</a:t>
            </a:r>
          </a:p>
        </p:txBody>
      </p:sp>
    </p:spTree>
    <p:extLst>
      <p:ext uri="{BB962C8B-B14F-4D97-AF65-F5344CB8AC3E}">
        <p14:creationId xmlns:p14="http://schemas.microsoft.com/office/powerpoint/2010/main" val="28394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9A24D-035A-429C-A932-59696A7D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09D8B-B8E0-4271-8BA7-A0D56B53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F034A-BF88-4B1D-AA77-7F00362B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一次演示：筛选、定位、解释、导出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D3D860-4792-4678-AACD-99B645C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六页系统共用清楚的统计口径。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dce86cbc94ef0"/>
          <a:stretch xmlns:a="http://schemas.openxmlformats.org/drawingml/2006/main"/>
        </p:blipFill>
        <p:spPr>
          <a:xfrm xmlns:a="http://schemas.openxmlformats.org/drawingml/2006/main">
            <a:off x="1254654" y="2286000"/>
            <a:ext cx="5825067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F1F8F-E4A1-4844-A9FE-9EB2F98F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概览 → 时间 → 站点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B0ED1-C755-47D8-B6CD-219319D6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出行模式 → 天气 → 质量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F2A4B-36C7-4154-A963-E27BAB69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30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CSV保留筛选条件</a:t>
            </a:r>
          </a:p>
          <a:p xmlns:a="http://schemas.openxmlformats.org/drawingml/2006/main">
            <a:pPr>
              <a:def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PNG保留图题与范围</a:t>
            </a:r>
          </a:p>
        </p:txBody>
      </p:sp>
    </p:spTree>
    <p:extLst>
      <p:ext uri="{BB962C8B-B14F-4D97-AF65-F5344CB8AC3E}">
        <p14:creationId xmlns:p14="http://schemas.microsoft.com/office/powerpoint/2010/main" val="2497342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9216E-DAE7-4609-8846-49397790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CA155-8FDE-45EC-A090-2E1C866E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83A1F-0DC9-4A05-A1F0-F88C9B5D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把可运行与可解释一起交付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F0C78-BA94-446D-99B3-27327A0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开发验证有记录，现场验收仍要实做。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BDB47-7BBE-455A-96A2-8474606F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13项测试通过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A2074-8E51-4396-AB89-06231B3E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清洗边界、统计口径、六页与模式、筛选及空状态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85F69-F93D-49C1-993C-43DF957F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源代码ZIP约8.4MB；独立便携包内置Python与数据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E2397F-CC82-44D2-B19F-B0D32883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仍需：另一台Windows电脑断网测试、学号补齐、材料核验</a:t>
            </a:r>
          </a:p>
        </p:txBody>
      </p:sp>
    </p:spTree>
    <p:extLst>
      <p:ext uri="{BB962C8B-B14F-4D97-AF65-F5344CB8AC3E}">
        <p14:creationId xmlns:p14="http://schemas.microsoft.com/office/powerpoint/2010/main" val="2938691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2627D3-ADDA-40EA-B335-34B5129D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沪上流动  /  软件开发实践1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B8511-8CA3-4627-A689-61F29F2F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67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6B6355-61C8-4273-8194-7F34E06A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2867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结论有依据，边界也要讲清楚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003F4-C034-4F22-9E0F-97291082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C77"/>
                </a:solidFill>
                <a:latin typeface="Microsoft YaHei"/>
                <a:ea typeface="Microsoft YaHei"/>
                <a:cs typeface="Microsoft YaHei"/>
              </a:rPr>
              <a:t>从公开历史数据出发，完成可复现的本科分析系统。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A695D-EEE5-468F-9A56-F0067676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D8F98-E33E-439F-ADF5-5B3B6249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24125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时间与空间规律、方向与构成、天气关联、站点分组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BA391-DEE3-4F35-9778-3A870261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特色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45C7F9-9E12-4941-A2CC-E6195F44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离线交互、共同有效日期、清楚的质量说明与AI留档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95459-569A-4FE8-BDF9-74802240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7887"/>
                </a:solidFill>
                <a:latin typeface="Microsoft YaHei"/>
                <a:ea typeface="Microsoft YaHei"/>
                <a:cs typeface="Microsoft YaHei"/>
              </a:rPr>
              <a:t>限制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1C25E-DDB9-44C3-B3C7-038E587D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95875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23442"/>
                </a:solidFill>
                <a:latin typeface="Microsoft YaHei"/>
                <a:ea typeface="Microsoft YaHei"/>
                <a:cs typeface="Microsoft YaHei"/>
              </a:rPr>
              <a:t>历史样本、单点天气；聚类仍需独立时期与外部资料验证</a:t>
            </a:r>
          </a:p>
        </p:txBody>
      </p:sp>
    </p:spTree>
    <p:extLst>
      <p:ext uri="{BB962C8B-B14F-4D97-AF65-F5344CB8AC3E}">
        <p14:creationId xmlns:p14="http://schemas.microsoft.com/office/powerpoint/2010/main" val="233386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2026-09-04T02:02:57.6150000Z</dcterms:created>
  <dcterms:modified xsi:type="dcterms:W3CDTF">2026-09-04T02:02:57.6150000Z</dcterms:modified>
</coreProperties>
</file>